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ptos Bold" panose="020B0604020202020204" charset="0"/>
      <p:regular r:id="rId3"/>
    </p:embeddedFont>
    <p:embeddedFont>
      <p:font typeface="Canva Sans" panose="020B0604020202020204" charset="0"/>
      <p:regular r:id="rId4"/>
    </p:embeddedFont>
    <p:embeddedFont>
      <p:font typeface="Canva Sans Bold" panose="020B0604020202020204" charset="0"/>
      <p:regular r:id="rId5"/>
    </p:embeddedFont>
    <p:embeddedFont>
      <p:font typeface="Canva Sans Italics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258" y="1257786"/>
            <a:ext cx="2418123" cy="502281"/>
            <a:chOff x="0" y="0"/>
            <a:chExt cx="636872" cy="132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872" cy="132288"/>
            </a:xfrm>
            <a:custGeom>
              <a:avLst/>
              <a:gdLst/>
              <a:ahLst/>
              <a:cxnLst/>
              <a:rect l="l" t="t" r="r" b="b"/>
              <a:pathLst>
                <a:path w="636872" h="132288">
                  <a:moveTo>
                    <a:pt x="0" y="0"/>
                  </a:moveTo>
                  <a:lnTo>
                    <a:pt x="636872" y="0"/>
                  </a:lnTo>
                  <a:lnTo>
                    <a:pt x="636872" y="132288"/>
                  </a:lnTo>
                  <a:lnTo>
                    <a:pt x="0" y="132288"/>
                  </a:lnTo>
                  <a:close/>
                </a:path>
              </a:pathLst>
            </a:custGeom>
            <a:solidFill>
              <a:srgbClr val="C2F6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872" cy="17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4258" y="1229995"/>
            <a:ext cx="2418123" cy="3797583"/>
            <a:chOff x="0" y="0"/>
            <a:chExt cx="636872" cy="10001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6872" cy="1000186"/>
            </a:xfrm>
            <a:custGeom>
              <a:avLst/>
              <a:gdLst/>
              <a:ahLst/>
              <a:cxnLst/>
              <a:rect l="l" t="t" r="r" b="b"/>
              <a:pathLst>
                <a:path w="636872" h="1000186">
                  <a:moveTo>
                    <a:pt x="0" y="0"/>
                  </a:moveTo>
                  <a:lnTo>
                    <a:pt x="636872" y="0"/>
                  </a:lnTo>
                  <a:lnTo>
                    <a:pt x="636872" y="1000186"/>
                  </a:lnTo>
                  <a:lnTo>
                    <a:pt x="0" y="1000186"/>
                  </a:lnTo>
                  <a:close/>
                </a:path>
              </a:pathLst>
            </a:custGeom>
            <a:solidFill>
              <a:srgbClr val="C2F6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36872" cy="1038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4258" y="5083347"/>
            <a:ext cx="2418123" cy="5109743"/>
            <a:chOff x="0" y="0"/>
            <a:chExt cx="636872" cy="13457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6872" cy="1345776"/>
            </a:xfrm>
            <a:custGeom>
              <a:avLst/>
              <a:gdLst/>
              <a:ahLst/>
              <a:cxnLst/>
              <a:rect l="l" t="t" r="r" b="b"/>
              <a:pathLst>
                <a:path w="636872" h="1345776">
                  <a:moveTo>
                    <a:pt x="0" y="0"/>
                  </a:moveTo>
                  <a:lnTo>
                    <a:pt x="636872" y="0"/>
                  </a:lnTo>
                  <a:lnTo>
                    <a:pt x="636872" y="1345776"/>
                  </a:lnTo>
                  <a:lnTo>
                    <a:pt x="0" y="1345776"/>
                  </a:lnTo>
                  <a:close/>
                </a:path>
              </a:pathLst>
            </a:custGeom>
            <a:solidFill>
              <a:srgbClr val="99F0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36872" cy="1383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4258" y="5089672"/>
            <a:ext cx="2418123" cy="502281"/>
            <a:chOff x="0" y="0"/>
            <a:chExt cx="636872" cy="1322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6872" cy="132288"/>
            </a:xfrm>
            <a:custGeom>
              <a:avLst/>
              <a:gdLst/>
              <a:ahLst/>
              <a:cxnLst/>
              <a:rect l="l" t="t" r="r" b="b"/>
              <a:pathLst>
                <a:path w="636872" h="132288">
                  <a:moveTo>
                    <a:pt x="0" y="0"/>
                  </a:moveTo>
                  <a:lnTo>
                    <a:pt x="636872" y="0"/>
                  </a:lnTo>
                  <a:lnTo>
                    <a:pt x="636872" y="132288"/>
                  </a:lnTo>
                  <a:lnTo>
                    <a:pt x="0" y="132288"/>
                  </a:lnTo>
                  <a:close/>
                </a:path>
              </a:pathLst>
            </a:custGeom>
            <a:solidFill>
              <a:srgbClr val="99F0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36872" cy="17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4342" y="1248611"/>
            <a:ext cx="10629399" cy="6243521"/>
            <a:chOff x="0" y="0"/>
            <a:chExt cx="2799513" cy="16443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99513" cy="1644384"/>
            </a:xfrm>
            <a:custGeom>
              <a:avLst/>
              <a:gdLst/>
              <a:ahLst/>
              <a:cxnLst/>
              <a:rect l="l" t="t" r="r" b="b"/>
              <a:pathLst>
                <a:path w="2799513" h="1644384">
                  <a:moveTo>
                    <a:pt x="0" y="0"/>
                  </a:moveTo>
                  <a:lnTo>
                    <a:pt x="2799513" y="0"/>
                  </a:lnTo>
                  <a:lnTo>
                    <a:pt x="2799513" y="1644384"/>
                  </a:lnTo>
                  <a:lnTo>
                    <a:pt x="0" y="1644384"/>
                  </a:lnTo>
                  <a:close/>
                </a:path>
              </a:pathLst>
            </a:custGeom>
            <a:solidFill>
              <a:srgbClr val="C2DC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799513" cy="1682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86172" y="1257786"/>
            <a:ext cx="4504379" cy="5458683"/>
            <a:chOff x="0" y="0"/>
            <a:chExt cx="1045590" cy="12671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5590" cy="1267111"/>
            </a:xfrm>
            <a:custGeom>
              <a:avLst/>
              <a:gdLst/>
              <a:ahLst/>
              <a:cxnLst/>
              <a:rect l="l" t="t" r="r" b="b"/>
              <a:pathLst>
                <a:path w="1045590" h="1267111">
                  <a:moveTo>
                    <a:pt x="0" y="0"/>
                  </a:moveTo>
                  <a:lnTo>
                    <a:pt x="1045590" y="0"/>
                  </a:lnTo>
                  <a:lnTo>
                    <a:pt x="1045590" y="1267111"/>
                  </a:lnTo>
                  <a:lnTo>
                    <a:pt x="0" y="1267111"/>
                  </a:lnTo>
                  <a:close/>
                </a:path>
              </a:pathLst>
            </a:custGeom>
            <a:solidFill>
              <a:srgbClr val="C2E9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45590" cy="13052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86172" y="1257786"/>
            <a:ext cx="4504379" cy="502281"/>
            <a:chOff x="0" y="0"/>
            <a:chExt cx="1045590" cy="1165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45590" cy="116593"/>
            </a:xfrm>
            <a:custGeom>
              <a:avLst/>
              <a:gdLst/>
              <a:ahLst/>
              <a:cxnLst/>
              <a:rect l="l" t="t" r="r" b="b"/>
              <a:pathLst>
                <a:path w="1045590" h="116593">
                  <a:moveTo>
                    <a:pt x="0" y="0"/>
                  </a:moveTo>
                  <a:lnTo>
                    <a:pt x="1045590" y="0"/>
                  </a:lnTo>
                  <a:lnTo>
                    <a:pt x="1045590" y="116593"/>
                  </a:lnTo>
                  <a:lnTo>
                    <a:pt x="0" y="116593"/>
                  </a:lnTo>
                  <a:close/>
                </a:path>
              </a:pathLst>
            </a:custGeom>
            <a:solidFill>
              <a:srgbClr val="C2E9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45590" cy="15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854706" y="1875000"/>
            <a:ext cx="4363468" cy="4723454"/>
          </a:xfrm>
          <a:custGeom>
            <a:avLst/>
            <a:gdLst/>
            <a:ahLst/>
            <a:cxnLst/>
            <a:rect l="l" t="t" r="r" b="b"/>
            <a:pathLst>
              <a:path w="4363468" h="4723454">
                <a:moveTo>
                  <a:pt x="0" y="0"/>
                </a:moveTo>
                <a:lnTo>
                  <a:pt x="4363468" y="0"/>
                </a:lnTo>
                <a:lnTo>
                  <a:pt x="4363468" y="4723455"/>
                </a:lnTo>
                <a:lnTo>
                  <a:pt x="0" y="4723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SG"/>
          </a:p>
        </p:txBody>
      </p:sp>
      <p:grpSp>
        <p:nvGrpSpPr>
          <p:cNvPr id="24" name="Group 24"/>
          <p:cNvGrpSpPr/>
          <p:nvPr/>
        </p:nvGrpSpPr>
        <p:grpSpPr>
          <a:xfrm>
            <a:off x="7444342" y="1248611"/>
            <a:ext cx="10629399" cy="530072"/>
            <a:chOff x="0" y="0"/>
            <a:chExt cx="2799513" cy="1396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99513" cy="139608"/>
            </a:xfrm>
            <a:custGeom>
              <a:avLst/>
              <a:gdLst/>
              <a:ahLst/>
              <a:cxnLst/>
              <a:rect l="l" t="t" r="r" b="b"/>
              <a:pathLst>
                <a:path w="2799513" h="139608">
                  <a:moveTo>
                    <a:pt x="0" y="0"/>
                  </a:moveTo>
                  <a:lnTo>
                    <a:pt x="2799513" y="0"/>
                  </a:lnTo>
                  <a:lnTo>
                    <a:pt x="2799513" y="139608"/>
                  </a:lnTo>
                  <a:lnTo>
                    <a:pt x="0" y="139608"/>
                  </a:lnTo>
                  <a:close/>
                </a:path>
              </a:pathLst>
            </a:custGeom>
            <a:solidFill>
              <a:srgbClr val="C2DC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799513" cy="177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86172" y="6859344"/>
            <a:ext cx="4504379" cy="502281"/>
            <a:chOff x="0" y="0"/>
            <a:chExt cx="1186338" cy="1322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86338" cy="132288"/>
            </a:xfrm>
            <a:custGeom>
              <a:avLst/>
              <a:gdLst/>
              <a:ahLst/>
              <a:cxnLst/>
              <a:rect l="l" t="t" r="r" b="b"/>
              <a:pathLst>
                <a:path w="1186338" h="132288">
                  <a:moveTo>
                    <a:pt x="0" y="0"/>
                  </a:moveTo>
                  <a:lnTo>
                    <a:pt x="1186338" y="0"/>
                  </a:lnTo>
                  <a:lnTo>
                    <a:pt x="1186338" y="132288"/>
                  </a:lnTo>
                  <a:lnTo>
                    <a:pt x="0" y="132288"/>
                  </a:lnTo>
                  <a:close/>
                </a:path>
              </a:pathLst>
            </a:custGeom>
            <a:solidFill>
              <a:srgbClr val="C2E9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186338" cy="17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786172" y="6898765"/>
            <a:ext cx="4504379" cy="3294324"/>
            <a:chOff x="0" y="0"/>
            <a:chExt cx="1186338" cy="8676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86338" cy="867641"/>
            </a:xfrm>
            <a:custGeom>
              <a:avLst/>
              <a:gdLst/>
              <a:ahLst/>
              <a:cxnLst/>
              <a:rect l="l" t="t" r="r" b="b"/>
              <a:pathLst>
                <a:path w="1186338" h="867641">
                  <a:moveTo>
                    <a:pt x="0" y="0"/>
                  </a:moveTo>
                  <a:lnTo>
                    <a:pt x="1186338" y="0"/>
                  </a:lnTo>
                  <a:lnTo>
                    <a:pt x="1186338" y="867641"/>
                  </a:lnTo>
                  <a:lnTo>
                    <a:pt x="0" y="867641"/>
                  </a:lnTo>
                  <a:close/>
                </a:path>
              </a:pathLst>
            </a:custGeom>
            <a:solidFill>
              <a:srgbClr val="C2E9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186338" cy="905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802013" y="0"/>
            <a:ext cx="1271729" cy="1219389"/>
            <a:chOff x="0" y="0"/>
            <a:chExt cx="334941" cy="3211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4941" cy="321156"/>
            </a:xfrm>
            <a:custGeom>
              <a:avLst/>
              <a:gdLst/>
              <a:ahLst/>
              <a:cxnLst/>
              <a:rect l="l" t="t" r="r" b="b"/>
              <a:pathLst>
                <a:path w="334941" h="321156">
                  <a:moveTo>
                    <a:pt x="0" y="0"/>
                  </a:moveTo>
                  <a:lnTo>
                    <a:pt x="334941" y="0"/>
                  </a:lnTo>
                  <a:lnTo>
                    <a:pt x="334941" y="321156"/>
                  </a:lnTo>
                  <a:lnTo>
                    <a:pt x="0" y="32115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34941" cy="359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44802" y="7563327"/>
            <a:ext cx="10628940" cy="2629763"/>
            <a:chOff x="0" y="0"/>
            <a:chExt cx="2799392" cy="6926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99392" cy="692612"/>
            </a:xfrm>
            <a:custGeom>
              <a:avLst/>
              <a:gdLst/>
              <a:ahLst/>
              <a:cxnLst/>
              <a:rect l="l" t="t" r="r" b="b"/>
              <a:pathLst>
                <a:path w="2799392" h="692612">
                  <a:moveTo>
                    <a:pt x="0" y="0"/>
                  </a:moveTo>
                  <a:lnTo>
                    <a:pt x="2799392" y="0"/>
                  </a:lnTo>
                  <a:lnTo>
                    <a:pt x="2799392" y="692612"/>
                  </a:lnTo>
                  <a:lnTo>
                    <a:pt x="0" y="692612"/>
                  </a:lnTo>
                  <a:close/>
                </a:path>
              </a:pathLst>
            </a:custGeom>
            <a:solidFill>
              <a:srgbClr val="99C5FF">
                <a:alpha val="2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799392" cy="730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444802" y="7563327"/>
            <a:ext cx="10628940" cy="502281"/>
            <a:chOff x="0" y="0"/>
            <a:chExt cx="2799392" cy="1322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799392" cy="132288"/>
            </a:xfrm>
            <a:custGeom>
              <a:avLst/>
              <a:gdLst/>
              <a:ahLst/>
              <a:cxnLst/>
              <a:rect l="l" t="t" r="r" b="b"/>
              <a:pathLst>
                <a:path w="2799392" h="132288">
                  <a:moveTo>
                    <a:pt x="0" y="0"/>
                  </a:moveTo>
                  <a:lnTo>
                    <a:pt x="2799392" y="0"/>
                  </a:lnTo>
                  <a:lnTo>
                    <a:pt x="2799392" y="132288"/>
                  </a:lnTo>
                  <a:lnTo>
                    <a:pt x="0" y="132288"/>
                  </a:lnTo>
                  <a:close/>
                </a:path>
              </a:pathLst>
            </a:custGeom>
            <a:solidFill>
              <a:srgbClr val="99C5FF">
                <a:alpha val="49804"/>
              </a:srgbClr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799392" cy="170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16840342" y="12160"/>
            <a:ext cx="1195069" cy="1195069"/>
          </a:xfrm>
          <a:custGeom>
            <a:avLst/>
            <a:gdLst/>
            <a:ahLst/>
            <a:cxnLst/>
            <a:rect l="l" t="t" r="r" b="b"/>
            <a:pathLst>
              <a:path w="1195069" h="1195069">
                <a:moveTo>
                  <a:pt x="0" y="0"/>
                </a:moveTo>
                <a:lnTo>
                  <a:pt x="1195070" y="0"/>
                </a:lnTo>
                <a:lnTo>
                  <a:pt x="1195070" y="1195069"/>
                </a:lnTo>
                <a:lnTo>
                  <a:pt x="0" y="1195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3" name="Freeform 43"/>
          <p:cNvSpPr/>
          <p:nvPr/>
        </p:nvSpPr>
        <p:spPr>
          <a:xfrm>
            <a:off x="7548190" y="1802725"/>
            <a:ext cx="10408824" cy="3903309"/>
          </a:xfrm>
          <a:custGeom>
            <a:avLst/>
            <a:gdLst/>
            <a:ahLst/>
            <a:cxnLst/>
            <a:rect l="l" t="t" r="r" b="b"/>
            <a:pathLst>
              <a:path w="10408824" h="3903309">
                <a:moveTo>
                  <a:pt x="0" y="0"/>
                </a:moveTo>
                <a:lnTo>
                  <a:pt x="10408824" y="0"/>
                </a:lnTo>
                <a:lnTo>
                  <a:pt x="10408824" y="3903309"/>
                </a:lnTo>
                <a:lnTo>
                  <a:pt x="0" y="3903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4" name="TextBox 44"/>
          <p:cNvSpPr txBox="1"/>
          <p:nvPr/>
        </p:nvSpPr>
        <p:spPr>
          <a:xfrm>
            <a:off x="266504" y="110691"/>
            <a:ext cx="1081375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8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Heavy Rainfall Signals in Singapore (1983-2025)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4258" y="790575"/>
            <a:ext cx="701766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Redesigning Rainfall Data For Urban Drainage Planning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7750" y="1783675"/>
            <a:ext cx="2291141" cy="313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original rainfall chart uses daily and monthly scatterplots to show Singapore’s rainfall patterns from 1983 - 2019. While its unique “falling rain” style is the main focus of the original visualisation and is visually memorable, dense overlapping points and the reversed y-axis make patterns harder to read. Our redesign aims to make heavy rain periods easier to identify for planning and public understanding.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9078" y="1344254"/>
            <a:ext cx="197832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5380" y="5631092"/>
            <a:ext cx="2291141" cy="437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redesign is intended for </a:t>
            </a:r>
            <a:r>
              <a:rPr lang="en-US" sz="11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urban planners, environmental agencies</a:t>
            </a: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1100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policymakers</a:t>
            </a: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Singapore. The goal is to identify when heavy rain and extreme rain periods occur across months and years, so rainfall timing can be considered in drainage planning, flood-prevention discussions and public communication.</a:t>
            </a:r>
          </a:p>
          <a:p>
            <a:pPr marL="0" lvl="0" indent="0" algn="l">
              <a:lnSpc>
                <a:spcPts val="1540"/>
              </a:lnSpc>
              <a:spcBef>
                <a:spcPct val="0"/>
              </a:spcBef>
            </a:pPr>
            <a:endParaRPr lang="en-US" sz="1100" u="none" strike="noStrike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1540"/>
              </a:lnSpc>
              <a:spcBef>
                <a:spcPct val="0"/>
              </a:spcBef>
            </a:pPr>
            <a:r>
              <a:rPr lang="en-US" sz="1100" b="1" u="sng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revisions:</a:t>
            </a:r>
          </a:p>
          <a:p>
            <a:pPr marL="237491" lvl="1" indent="-118745" algn="l">
              <a:lnSpc>
                <a:spcPts val="1540"/>
              </a:lnSpc>
              <a:buAutoNum type="arabicPeriod"/>
            </a:pPr>
            <a:r>
              <a:rPr lang="en-US" sz="11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Removed daily rainfall plot and redesigned to a heatmap</a:t>
            </a:r>
          </a:p>
          <a:p>
            <a:pPr marL="237491" lvl="1" indent="-118745" algn="l">
              <a:lnSpc>
                <a:spcPts val="1540"/>
              </a:lnSpc>
              <a:buAutoNum type="arabicPeriod"/>
            </a:pP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of only 2 different guides to represent key rainfall details</a:t>
            </a:r>
          </a:p>
          <a:p>
            <a:pPr marL="237491" lvl="1" indent="-118745" algn="l">
              <a:lnSpc>
                <a:spcPts val="1540"/>
              </a:lnSpc>
              <a:buAutoNum type="arabicPeriod"/>
            </a:pP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Changed to chronological order for Months and Years axis.</a:t>
            </a:r>
          </a:p>
          <a:p>
            <a:pPr marL="237491" lvl="1" indent="-118745" algn="l">
              <a:lnSpc>
                <a:spcPts val="1540"/>
              </a:lnSpc>
              <a:spcBef>
                <a:spcPct val="0"/>
              </a:spcBef>
              <a:buAutoNum type="arabicPeriod"/>
            </a:pPr>
            <a:r>
              <a:rPr lang="en-US" sz="1100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Redesigned to better capture important trends and details for urban planners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5380" y="5177935"/>
            <a:ext cx="1693082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BRIEF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20641" y="8046558"/>
            <a:ext cx="10553100" cy="187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“falling rain” design is unique and visually memorable and connects well to the rainfall theme.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 and dark markers help highlight extreme rainfall events and make outliers easy to notice.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Weaknesses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points overlap, especially for low rainfall days, making the distribution difficult to read.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Rainfall is encoded multiple times using vertical position, marker size and colour intensity, which adds unnecessary visual complexity.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reversed y-axis supports the rain theme but it may slow interpretation because higher r</a:t>
            </a:r>
            <a:r>
              <a:rPr lang="en-US" sz="12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ain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fall</a:t>
            </a:r>
            <a:r>
              <a:rPr lang="en-US" sz="12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</a:t>
            </a:r>
            <a:r>
              <a:rPr lang="en-US" sz="12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12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lower </a:t>
            </a:r>
            <a:r>
              <a:rPr lang="en-US" sz="1200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chart.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Non-intuitive design for urban planners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72077" y="1349516"/>
            <a:ext cx="370414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ORIGINAL VISUALISATION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705501" y="1367595"/>
            <a:ext cx="10088667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REDESIGNED VISUALISATION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872077" y="6947607"/>
            <a:ext cx="425044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72077" y="7447351"/>
            <a:ext cx="4337424" cy="271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Meteorological Service Singapore / data.gov.sg: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Daily rainfall observations from Changi station.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Changi rainfall dataset: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Daily rainfall totals and derived monthly rainfall summaries.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Period used: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1983 - 2025 complete years. 2026 is excluded because the year is incomplete.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679"/>
              </a:lnSpc>
            </a:pPr>
            <a:r>
              <a:rPr lang="en-US" sz="12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Original article: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Visualising Singapore’s Changing Weather Patterns (1983–2019), Chart 5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1679"/>
              </a:lnSpc>
            </a:pPr>
            <a:r>
              <a:rPr lang="en-US" sz="1200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Scan QR for full citations and references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01808" y="-25940"/>
            <a:ext cx="368589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TEAM CORAL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48190" y="7654520"/>
            <a:ext cx="706413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 &amp; WEAKNESSES OF ORIGINAL PLOT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521002" y="5861551"/>
            <a:ext cx="10436012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Shifting the focus to monthly rainfall trends across the year on a heatmap. Reduction of plotted points, focusing on only relevant rainfall distributions for urban planning.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Encoding of only important features identified from rainfall data (heavy and extreme rainfall days) relevant to urban planning, reduces visual complexity.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of standard x and y axis orientations for common interpretation of the plot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trends for which months have heavy or extreme rainfall are immediately visible for urban planners or environmental agencies</a:t>
            </a:r>
          </a:p>
          <a:p>
            <a:pPr marL="259080" lvl="1" indent="-129540" algn="l">
              <a:lnSpc>
                <a:spcPts val="1679"/>
              </a:lnSpc>
              <a:buAutoNum type="arabicPeriod"/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Expansion of plot data from 1983 - 2019 to 1983 - 2025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234239" y="398346"/>
            <a:ext cx="2110515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2403348 - Kieran Sim</a:t>
            </a:r>
          </a:p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2401305 - James Yu</a:t>
            </a:r>
          </a:p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2401401 - Valerie Seow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4518126" y="398346"/>
            <a:ext cx="2110515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2403355 - Yip Wei Yang</a:t>
            </a:r>
          </a:p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2403359 - Ethan 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 Bold</vt:lpstr>
      <vt:lpstr>Canva Sans</vt:lpstr>
      <vt:lpstr>Canva Sans Bold</vt:lpstr>
      <vt:lpstr>Canva Sans Italics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Coral Proj Poster</dc:title>
  <cp:lastModifiedBy>valerie seow</cp:lastModifiedBy>
  <cp:revision>2</cp:revision>
  <dcterms:created xsi:type="dcterms:W3CDTF">2006-08-16T00:00:00Z</dcterms:created>
  <dcterms:modified xsi:type="dcterms:W3CDTF">2026-07-27T05:46:00Z</dcterms:modified>
  <dc:identifier>DAHO6GfO6d0</dc:identifier>
</cp:coreProperties>
</file>