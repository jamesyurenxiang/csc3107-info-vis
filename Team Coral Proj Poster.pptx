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8288000" cy="10287000"/>
  <p:notesSz cx="6858000" cy="9144000"/>
  <p:embeddedFontLst>
    <p:embeddedFont>
      <p:font typeface="Aptos Bold" panose="020B0604020202020204" charset="0"/>
      <p:regular r:id="rId3"/>
    </p:embeddedFont>
    <p:embeddedFont>
      <p:font typeface="Canva Sans" panose="020B0604020202020204" charset="0"/>
      <p:regular r:id="rId4"/>
    </p:embeddedFont>
    <p:embeddedFont>
      <p:font typeface="Canva Sans Bold" panose="020B0604020202020204" charset="0"/>
      <p:regular r:id="rId5"/>
    </p:embeddedFont>
    <p:embeddedFont>
      <p:font typeface="Canva Sans Italics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7" d="100"/>
          <a:sy n="47" d="100"/>
        </p:scale>
        <p:origin x="50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font" Target="fonts/font1.fntdata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5" Type="http://schemas.openxmlformats.org/officeDocument/2006/relationships/font" Target="fonts/font3.fntdata"/><Relationship Id="rId10" Type="http://schemas.openxmlformats.org/officeDocument/2006/relationships/tableStyles" Target="tableStyles.xml"/><Relationship Id="rId4" Type="http://schemas.openxmlformats.org/officeDocument/2006/relationships/font" Target="fonts/font2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26/07/2026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26/07/2026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26/07/2026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26/07/2026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26/07/2026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26/07/2026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26/07/2026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26/07/2026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14258" y="1257786"/>
            <a:ext cx="2418123" cy="502281"/>
            <a:chOff x="0" y="0"/>
            <a:chExt cx="636872" cy="13228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6872" cy="132288"/>
            </a:xfrm>
            <a:custGeom>
              <a:avLst/>
              <a:gdLst/>
              <a:ahLst/>
              <a:cxnLst/>
              <a:rect l="l" t="t" r="r" b="b"/>
              <a:pathLst>
                <a:path w="636872" h="132288">
                  <a:moveTo>
                    <a:pt x="0" y="0"/>
                  </a:moveTo>
                  <a:lnTo>
                    <a:pt x="636872" y="0"/>
                  </a:lnTo>
                  <a:lnTo>
                    <a:pt x="636872" y="132288"/>
                  </a:lnTo>
                  <a:lnTo>
                    <a:pt x="0" y="132288"/>
                  </a:lnTo>
                  <a:close/>
                </a:path>
              </a:pathLst>
            </a:custGeom>
            <a:solidFill>
              <a:srgbClr val="C2F6FF">
                <a:alpha val="49804"/>
              </a:srgbClr>
            </a:solidFill>
          </p:spPr>
          <p:txBody>
            <a:bodyPr/>
            <a:lstStyle/>
            <a:p>
              <a:endParaRPr lang="en-SG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636872" cy="1703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14258" y="1229995"/>
            <a:ext cx="2418123" cy="3797583"/>
            <a:chOff x="0" y="0"/>
            <a:chExt cx="636872" cy="100018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36872" cy="1000186"/>
            </a:xfrm>
            <a:custGeom>
              <a:avLst/>
              <a:gdLst/>
              <a:ahLst/>
              <a:cxnLst/>
              <a:rect l="l" t="t" r="r" b="b"/>
              <a:pathLst>
                <a:path w="636872" h="1000186">
                  <a:moveTo>
                    <a:pt x="0" y="0"/>
                  </a:moveTo>
                  <a:lnTo>
                    <a:pt x="636872" y="0"/>
                  </a:lnTo>
                  <a:lnTo>
                    <a:pt x="636872" y="1000186"/>
                  </a:lnTo>
                  <a:lnTo>
                    <a:pt x="0" y="1000186"/>
                  </a:lnTo>
                  <a:close/>
                </a:path>
              </a:pathLst>
            </a:custGeom>
            <a:solidFill>
              <a:srgbClr val="C2F6FF">
                <a:alpha val="29804"/>
              </a:srgbClr>
            </a:solidFill>
          </p:spPr>
          <p:txBody>
            <a:bodyPr/>
            <a:lstStyle/>
            <a:p>
              <a:endParaRPr lang="en-SG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636872" cy="10382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endParaRPr/>
            </a:p>
            <a:p>
              <a:pPr algn="ctr">
                <a:lnSpc>
                  <a:spcPts val="308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214258" y="5083347"/>
            <a:ext cx="2418123" cy="5109743"/>
            <a:chOff x="0" y="0"/>
            <a:chExt cx="636872" cy="134577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6872" cy="1345776"/>
            </a:xfrm>
            <a:custGeom>
              <a:avLst/>
              <a:gdLst/>
              <a:ahLst/>
              <a:cxnLst/>
              <a:rect l="l" t="t" r="r" b="b"/>
              <a:pathLst>
                <a:path w="636872" h="1345776">
                  <a:moveTo>
                    <a:pt x="0" y="0"/>
                  </a:moveTo>
                  <a:lnTo>
                    <a:pt x="636872" y="0"/>
                  </a:lnTo>
                  <a:lnTo>
                    <a:pt x="636872" y="1345776"/>
                  </a:lnTo>
                  <a:lnTo>
                    <a:pt x="0" y="1345776"/>
                  </a:lnTo>
                  <a:close/>
                </a:path>
              </a:pathLst>
            </a:custGeom>
            <a:solidFill>
              <a:srgbClr val="99F0FF">
                <a:alpha val="29804"/>
              </a:srgbClr>
            </a:solidFill>
          </p:spPr>
          <p:txBody>
            <a:bodyPr/>
            <a:lstStyle/>
            <a:p>
              <a:endParaRPr lang="en-SG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636872" cy="13838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endParaRPr/>
            </a:p>
            <a:p>
              <a:pPr algn="ctr">
                <a:lnSpc>
                  <a:spcPts val="308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14258" y="5089672"/>
            <a:ext cx="2418123" cy="502281"/>
            <a:chOff x="0" y="0"/>
            <a:chExt cx="636872" cy="13228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36872" cy="132288"/>
            </a:xfrm>
            <a:custGeom>
              <a:avLst/>
              <a:gdLst/>
              <a:ahLst/>
              <a:cxnLst/>
              <a:rect l="l" t="t" r="r" b="b"/>
              <a:pathLst>
                <a:path w="636872" h="132288">
                  <a:moveTo>
                    <a:pt x="0" y="0"/>
                  </a:moveTo>
                  <a:lnTo>
                    <a:pt x="636872" y="0"/>
                  </a:lnTo>
                  <a:lnTo>
                    <a:pt x="636872" y="132288"/>
                  </a:lnTo>
                  <a:lnTo>
                    <a:pt x="0" y="132288"/>
                  </a:lnTo>
                  <a:close/>
                </a:path>
              </a:pathLst>
            </a:custGeom>
            <a:solidFill>
              <a:srgbClr val="99F0FF">
                <a:alpha val="49804"/>
              </a:srgbClr>
            </a:solidFill>
          </p:spPr>
          <p:txBody>
            <a:bodyPr/>
            <a:lstStyle/>
            <a:p>
              <a:endParaRPr lang="en-SG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636872" cy="1703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444342" y="1248611"/>
            <a:ext cx="10629399" cy="6243521"/>
            <a:chOff x="0" y="0"/>
            <a:chExt cx="2799513" cy="1644384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799513" cy="1644384"/>
            </a:xfrm>
            <a:custGeom>
              <a:avLst/>
              <a:gdLst/>
              <a:ahLst/>
              <a:cxnLst/>
              <a:rect l="l" t="t" r="r" b="b"/>
              <a:pathLst>
                <a:path w="2799513" h="1644384">
                  <a:moveTo>
                    <a:pt x="0" y="0"/>
                  </a:moveTo>
                  <a:lnTo>
                    <a:pt x="2799513" y="0"/>
                  </a:lnTo>
                  <a:lnTo>
                    <a:pt x="2799513" y="1644384"/>
                  </a:lnTo>
                  <a:lnTo>
                    <a:pt x="0" y="1644384"/>
                  </a:lnTo>
                  <a:close/>
                </a:path>
              </a:pathLst>
            </a:custGeom>
            <a:solidFill>
              <a:srgbClr val="C2DCFF">
                <a:alpha val="29804"/>
              </a:srgbClr>
            </a:solidFill>
          </p:spPr>
          <p:txBody>
            <a:bodyPr/>
            <a:lstStyle/>
            <a:p>
              <a:endParaRPr lang="en-SG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2799513" cy="168248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endParaRPr/>
            </a:p>
            <a:p>
              <a:pPr algn="ctr">
                <a:lnSpc>
                  <a:spcPts val="3080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786172" y="1257786"/>
            <a:ext cx="4504379" cy="5458683"/>
            <a:chOff x="0" y="0"/>
            <a:chExt cx="1045590" cy="126711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45590" cy="1267111"/>
            </a:xfrm>
            <a:custGeom>
              <a:avLst/>
              <a:gdLst/>
              <a:ahLst/>
              <a:cxnLst/>
              <a:rect l="l" t="t" r="r" b="b"/>
              <a:pathLst>
                <a:path w="1045590" h="1267111">
                  <a:moveTo>
                    <a:pt x="0" y="0"/>
                  </a:moveTo>
                  <a:lnTo>
                    <a:pt x="1045590" y="0"/>
                  </a:lnTo>
                  <a:lnTo>
                    <a:pt x="1045590" y="1267111"/>
                  </a:lnTo>
                  <a:lnTo>
                    <a:pt x="0" y="1267111"/>
                  </a:lnTo>
                  <a:close/>
                </a:path>
              </a:pathLst>
            </a:custGeom>
            <a:solidFill>
              <a:srgbClr val="C2E9FF">
                <a:alpha val="29804"/>
              </a:srgbClr>
            </a:solidFill>
          </p:spPr>
          <p:txBody>
            <a:bodyPr/>
            <a:lstStyle/>
            <a:p>
              <a:endParaRPr lang="en-SG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1045590" cy="13052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endParaRPr/>
            </a:p>
            <a:p>
              <a:pPr algn="ctr">
                <a:lnSpc>
                  <a:spcPts val="3080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2786172" y="1257786"/>
            <a:ext cx="4504379" cy="502281"/>
            <a:chOff x="0" y="0"/>
            <a:chExt cx="1045590" cy="11659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45590" cy="116593"/>
            </a:xfrm>
            <a:custGeom>
              <a:avLst/>
              <a:gdLst/>
              <a:ahLst/>
              <a:cxnLst/>
              <a:rect l="l" t="t" r="r" b="b"/>
              <a:pathLst>
                <a:path w="1045590" h="116593">
                  <a:moveTo>
                    <a:pt x="0" y="0"/>
                  </a:moveTo>
                  <a:lnTo>
                    <a:pt x="1045590" y="0"/>
                  </a:lnTo>
                  <a:lnTo>
                    <a:pt x="1045590" y="116593"/>
                  </a:lnTo>
                  <a:lnTo>
                    <a:pt x="0" y="116593"/>
                  </a:lnTo>
                  <a:close/>
                </a:path>
              </a:pathLst>
            </a:custGeom>
            <a:solidFill>
              <a:srgbClr val="C2E9FF">
                <a:alpha val="49804"/>
              </a:srgbClr>
            </a:solidFill>
          </p:spPr>
          <p:txBody>
            <a:bodyPr/>
            <a:lstStyle/>
            <a:p>
              <a:endParaRPr lang="en-SG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045590" cy="15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endParaRPr/>
            </a:p>
          </p:txBody>
        </p:sp>
      </p:grpSp>
      <p:sp>
        <p:nvSpPr>
          <p:cNvPr id="23" name="Freeform 23"/>
          <p:cNvSpPr/>
          <p:nvPr/>
        </p:nvSpPr>
        <p:spPr>
          <a:xfrm>
            <a:off x="2854706" y="1875000"/>
            <a:ext cx="4363468" cy="4723454"/>
          </a:xfrm>
          <a:custGeom>
            <a:avLst/>
            <a:gdLst/>
            <a:ahLst/>
            <a:cxnLst/>
            <a:rect l="l" t="t" r="r" b="b"/>
            <a:pathLst>
              <a:path w="4363468" h="4723454">
                <a:moveTo>
                  <a:pt x="0" y="0"/>
                </a:moveTo>
                <a:lnTo>
                  <a:pt x="4363468" y="0"/>
                </a:lnTo>
                <a:lnTo>
                  <a:pt x="4363468" y="4723455"/>
                </a:lnTo>
                <a:lnTo>
                  <a:pt x="0" y="472345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w="9525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en-SG"/>
          </a:p>
        </p:txBody>
      </p:sp>
      <p:grpSp>
        <p:nvGrpSpPr>
          <p:cNvPr id="24" name="Group 24"/>
          <p:cNvGrpSpPr/>
          <p:nvPr/>
        </p:nvGrpSpPr>
        <p:grpSpPr>
          <a:xfrm>
            <a:off x="7444342" y="1248611"/>
            <a:ext cx="10629399" cy="530072"/>
            <a:chOff x="0" y="0"/>
            <a:chExt cx="2799513" cy="13960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799513" cy="139608"/>
            </a:xfrm>
            <a:custGeom>
              <a:avLst/>
              <a:gdLst/>
              <a:ahLst/>
              <a:cxnLst/>
              <a:rect l="l" t="t" r="r" b="b"/>
              <a:pathLst>
                <a:path w="2799513" h="139608">
                  <a:moveTo>
                    <a:pt x="0" y="0"/>
                  </a:moveTo>
                  <a:lnTo>
                    <a:pt x="2799513" y="0"/>
                  </a:lnTo>
                  <a:lnTo>
                    <a:pt x="2799513" y="139608"/>
                  </a:lnTo>
                  <a:lnTo>
                    <a:pt x="0" y="139608"/>
                  </a:lnTo>
                  <a:close/>
                </a:path>
              </a:pathLst>
            </a:custGeom>
            <a:solidFill>
              <a:srgbClr val="C2DCFF">
                <a:alpha val="49804"/>
              </a:srgbClr>
            </a:solidFill>
          </p:spPr>
          <p:txBody>
            <a:bodyPr/>
            <a:lstStyle/>
            <a:p>
              <a:endParaRPr lang="en-SG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2799513" cy="1777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2786172" y="6859344"/>
            <a:ext cx="4504379" cy="502281"/>
            <a:chOff x="0" y="0"/>
            <a:chExt cx="1186338" cy="13228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186338" cy="132288"/>
            </a:xfrm>
            <a:custGeom>
              <a:avLst/>
              <a:gdLst/>
              <a:ahLst/>
              <a:cxnLst/>
              <a:rect l="l" t="t" r="r" b="b"/>
              <a:pathLst>
                <a:path w="1186338" h="132288">
                  <a:moveTo>
                    <a:pt x="0" y="0"/>
                  </a:moveTo>
                  <a:lnTo>
                    <a:pt x="1186338" y="0"/>
                  </a:lnTo>
                  <a:lnTo>
                    <a:pt x="1186338" y="132288"/>
                  </a:lnTo>
                  <a:lnTo>
                    <a:pt x="0" y="132288"/>
                  </a:lnTo>
                  <a:close/>
                </a:path>
              </a:pathLst>
            </a:custGeom>
            <a:solidFill>
              <a:srgbClr val="C2E9FF">
                <a:alpha val="49804"/>
              </a:srgbClr>
            </a:solidFill>
          </p:spPr>
          <p:txBody>
            <a:bodyPr/>
            <a:lstStyle/>
            <a:p>
              <a:endParaRPr lang="en-SG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1186338" cy="1703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2786172" y="6898765"/>
            <a:ext cx="4504379" cy="3294324"/>
            <a:chOff x="0" y="0"/>
            <a:chExt cx="1186338" cy="867641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186338" cy="867641"/>
            </a:xfrm>
            <a:custGeom>
              <a:avLst/>
              <a:gdLst/>
              <a:ahLst/>
              <a:cxnLst/>
              <a:rect l="l" t="t" r="r" b="b"/>
              <a:pathLst>
                <a:path w="1186338" h="867641">
                  <a:moveTo>
                    <a:pt x="0" y="0"/>
                  </a:moveTo>
                  <a:lnTo>
                    <a:pt x="1186338" y="0"/>
                  </a:lnTo>
                  <a:lnTo>
                    <a:pt x="1186338" y="867641"/>
                  </a:lnTo>
                  <a:lnTo>
                    <a:pt x="0" y="867641"/>
                  </a:lnTo>
                  <a:close/>
                </a:path>
              </a:pathLst>
            </a:custGeom>
            <a:solidFill>
              <a:srgbClr val="C2E9FF">
                <a:alpha val="29804"/>
              </a:srgbClr>
            </a:solidFill>
          </p:spPr>
          <p:txBody>
            <a:bodyPr/>
            <a:lstStyle/>
            <a:p>
              <a:endParaRPr lang="en-SG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38100"/>
              <a:ext cx="1186338" cy="9057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endParaRPr/>
            </a:p>
            <a:p>
              <a:pPr algn="ctr">
                <a:lnSpc>
                  <a:spcPts val="3080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802013" y="0"/>
            <a:ext cx="1271729" cy="1219389"/>
            <a:chOff x="0" y="0"/>
            <a:chExt cx="334941" cy="321156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334941" cy="321156"/>
            </a:xfrm>
            <a:custGeom>
              <a:avLst/>
              <a:gdLst/>
              <a:ahLst/>
              <a:cxnLst/>
              <a:rect l="l" t="t" r="r" b="b"/>
              <a:pathLst>
                <a:path w="334941" h="321156">
                  <a:moveTo>
                    <a:pt x="0" y="0"/>
                  </a:moveTo>
                  <a:lnTo>
                    <a:pt x="334941" y="0"/>
                  </a:lnTo>
                  <a:lnTo>
                    <a:pt x="334941" y="321156"/>
                  </a:lnTo>
                  <a:lnTo>
                    <a:pt x="0" y="321156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SG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38100"/>
              <a:ext cx="334941" cy="3592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endParaRPr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7444802" y="7563327"/>
            <a:ext cx="10628940" cy="2629763"/>
            <a:chOff x="0" y="0"/>
            <a:chExt cx="2799392" cy="692612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799392" cy="692612"/>
            </a:xfrm>
            <a:custGeom>
              <a:avLst/>
              <a:gdLst/>
              <a:ahLst/>
              <a:cxnLst/>
              <a:rect l="l" t="t" r="r" b="b"/>
              <a:pathLst>
                <a:path w="2799392" h="692612">
                  <a:moveTo>
                    <a:pt x="0" y="0"/>
                  </a:moveTo>
                  <a:lnTo>
                    <a:pt x="2799392" y="0"/>
                  </a:lnTo>
                  <a:lnTo>
                    <a:pt x="2799392" y="692612"/>
                  </a:lnTo>
                  <a:lnTo>
                    <a:pt x="0" y="692612"/>
                  </a:lnTo>
                  <a:close/>
                </a:path>
              </a:pathLst>
            </a:custGeom>
            <a:solidFill>
              <a:srgbClr val="99C5FF">
                <a:alpha val="29804"/>
              </a:srgbClr>
            </a:solidFill>
          </p:spPr>
          <p:txBody>
            <a:bodyPr/>
            <a:lstStyle/>
            <a:p>
              <a:endParaRPr lang="en-SG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38100"/>
              <a:ext cx="2799392" cy="7307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endParaRPr/>
            </a:p>
            <a:p>
              <a:pPr algn="ctr">
                <a:lnSpc>
                  <a:spcPts val="3080"/>
                </a:lnSpc>
              </a:pPr>
              <a:endParaRPr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7444802" y="7563327"/>
            <a:ext cx="10628940" cy="502281"/>
            <a:chOff x="0" y="0"/>
            <a:chExt cx="2799392" cy="132288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2799392" cy="132288"/>
            </a:xfrm>
            <a:custGeom>
              <a:avLst/>
              <a:gdLst/>
              <a:ahLst/>
              <a:cxnLst/>
              <a:rect l="l" t="t" r="r" b="b"/>
              <a:pathLst>
                <a:path w="2799392" h="132288">
                  <a:moveTo>
                    <a:pt x="0" y="0"/>
                  </a:moveTo>
                  <a:lnTo>
                    <a:pt x="2799392" y="0"/>
                  </a:lnTo>
                  <a:lnTo>
                    <a:pt x="2799392" y="132288"/>
                  </a:lnTo>
                  <a:lnTo>
                    <a:pt x="0" y="132288"/>
                  </a:lnTo>
                  <a:close/>
                </a:path>
              </a:pathLst>
            </a:custGeom>
            <a:solidFill>
              <a:srgbClr val="99C5FF">
                <a:alpha val="49804"/>
              </a:srgbClr>
            </a:solidFill>
          </p:spPr>
          <p:txBody>
            <a:bodyPr/>
            <a:lstStyle/>
            <a:p>
              <a:endParaRPr lang="en-SG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38100"/>
              <a:ext cx="2799392" cy="1703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80"/>
                </a:lnSpc>
              </a:pPr>
              <a:endParaRPr/>
            </a:p>
          </p:txBody>
        </p:sp>
      </p:grpSp>
      <p:sp>
        <p:nvSpPr>
          <p:cNvPr id="42" name="Freeform 42"/>
          <p:cNvSpPr/>
          <p:nvPr/>
        </p:nvSpPr>
        <p:spPr>
          <a:xfrm>
            <a:off x="7548190" y="1875000"/>
            <a:ext cx="10385765" cy="3894662"/>
          </a:xfrm>
          <a:custGeom>
            <a:avLst/>
            <a:gdLst/>
            <a:ahLst/>
            <a:cxnLst/>
            <a:rect l="l" t="t" r="r" b="b"/>
            <a:pathLst>
              <a:path w="10385765" h="3894662">
                <a:moveTo>
                  <a:pt x="0" y="0"/>
                </a:moveTo>
                <a:lnTo>
                  <a:pt x="10385765" y="0"/>
                </a:lnTo>
                <a:lnTo>
                  <a:pt x="10385765" y="3894662"/>
                </a:lnTo>
                <a:lnTo>
                  <a:pt x="0" y="38946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SG"/>
          </a:p>
        </p:txBody>
      </p:sp>
      <p:sp>
        <p:nvSpPr>
          <p:cNvPr id="43" name="Freeform 43"/>
          <p:cNvSpPr/>
          <p:nvPr/>
        </p:nvSpPr>
        <p:spPr>
          <a:xfrm>
            <a:off x="16840342" y="12160"/>
            <a:ext cx="1195069" cy="1195069"/>
          </a:xfrm>
          <a:custGeom>
            <a:avLst/>
            <a:gdLst/>
            <a:ahLst/>
            <a:cxnLst/>
            <a:rect l="l" t="t" r="r" b="b"/>
            <a:pathLst>
              <a:path w="1195069" h="1195069">
                <a:moveTo>
                  <a:pt x="0" y="0"/>
                </a:moveTo>
                <a:lnTo>
                  <a:pt x="1195070" y="0"/>
                </a:lnTo>
                <a:lnTo>
                  <a:pt x="1195070" y="1195069"/>
                </a:lnTo>
                <a:lnTo>
                  <a:pt x="0" y="11950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SG"/>
          </a:p>
        </p:txBody>
      </p:sp>
      <p:sp>
        <p:nvSpPr>
          <p:cNvPr id="44" name="TextBox 44"/>
          <p:cNvSpPr txBox="1"/>
          <p:nvPr/>
        </p:nvSpPr>
        <p:spPr>
          <a:xfrm>
            <a:off x="249036" y="127486"/>
            <a:ext cx="11638459" cy="673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599"/>
              </a:lnSpc>
            </a:pPr>
            <a:r>
              <a:rPr lang="en-US" sz="3800" b="1" dirty="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Rainfall Flood-Stress Signals at Changi (1983-2025)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214258" y="790575"/>
            <a:ext cx="7017662" cy="372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Redesigning Rainfall Data For Urban Drainage Planning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277750" y="1783675"/>
            <a:ext cx="2291141" cy="3131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original rainfall chart uses daily and monthly scatterplots to show Singapore’s rainfall patterns from 1983 - 2019. While its unique “falling rain” style is the main focus of the original visualisation and is visually memorable, dense overlapping points and the reversed y-axis make patterns harder to read. Our redesign aims to make heavy rain periods easier to identify for planning and public understanding.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289078" y="1344254"/>
            <a:ext cx="1978320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INTRODUCTION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95380" y="5631092"/>
            <a:ext cx="2291141" cy="4372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This redesign is intended for </a:t>
            </a:r>
            <a:r>
              <a:rPr lang="en-US" sz="1100" b="1" u="none" strike="noStrik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urban planners, environmental agencies</a:t>
            </a:r>
            <a:r>
              <a:rPr lang="en-US" sz="1100" u="none" strike="noStrike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and </a:t>
            </a:r>
            <a:r>
              <a:rPr lang="en-US" sz="1100" b="1" u="none" strike="noStrik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policymakers</a:t>
            </a:r>
            <a:r>
              <a:rPr lang="en-US" sz="1100" u="none" strike="noStrike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in Singapore. The goal is to identify when heavy rain and extreme rain periods occur across months and years, so rainfall timing can be considered in drainage planning, flood-prevention discussions and public communication.</a:t>
            </a:r>
          </a:p>
          <a:p>
            <a:pPr marL="0" lvl="0" indent="0" algn="l">
              <a:lnSpc>
                <a:spcPts val="1540"/>
              </a:lnSpc>
              <a:spcBef>
                <a:spcPct val="0"/>
              </a:spcBef>
            </a:pPr>
            <a:endParaRPr lang="en-US" sz="1100" u="none" strike="noStrike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marL="0" lvl="0" indent="0" algn="l">
              <a:lnSpc>
                <a:spcPts val="1540"/>
              </a:lnSpc>
              <a:spcBef>
                <a:spcPct val="0"/>
              </a:spcBef>
            </a:pPr>
            <a:r>
              <a:rPr lang="en-US" sz="1100" b="1" u="sng" strike="noStrik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Main revisions:</a:t>
            </a:r>
          </a:p>
          <a:p>
            <a:pPr marL="237491" lvl="1" indent="-118745" algn="l">
              <a:lnSpc>
                <a:spcPts val="1540"/>
              </a:lnSpc>
              <a:buAutoNum type="arabicPeriod"/>
            </a:pPr>
            <a:r>
              <a:rPr lang="en-US" sz="1100" strike="noStrike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Removed daily rainfall plot and redesigned to a heatmap</a:t>
            </a:r>
          </a:p>
          <a:p>
            <a:pPr marL="237491" lvl="1" indent="-118745" algn="l">
              <a:lnSpc>
                <a:spcPts val="1540"/>
              </a:lnSpc>
              <a:buAutoNum type="arabicPeriod"/>
            </a:pPr>
            <a:r>
              <a:rPr lang="en-US" sz="1100" u="none" strike="noStrike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Use of only 2 different guides to represent key rainfall details</a:t>
            </a:r>
          </a:p>
          <a:p>
            <a:pPr marL="237491" lvl="1" indent="-118745" algn="l">
              <a:lnSpc>
                <a:spcPts val="1540"/>
              </a:lnSpc>
              <a:buAutoNum type="arabicPeriod"/>
            </a:pPr>
            <a:r>
              <a:rPr lang="en-US" sz="1100" u="none" strike="noStrike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Changed to chronological order for Months and Years axis.</a:t>
            </a:r>
          </a:p>
          <a:p>
            <a:pPr marL="237491" lvl="1" indent="-118745" algn="l">
              <a:lnSpc>
                <a:spcPts val="1540"/>
              </a:lnSpc>
              <a:spcBef>
                <a:spcPct val="0"/>
              </a:spcBef>
              <a:buAutoNum type="arabicPeriod"/>
            </a:pPr>
            <a:r>
              <a:rPr lang="en-US" sz="1100" u="none" strike="noStrike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Redesigned to better capture important trends and details for urban planners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295380" y="5177935"/>
            <a:ext cx="169308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DESIGN BRIEF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7520641" y="8046558"/>
            <a:ext cx="10553100" cy="1874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Strengths</a:t>
            </a:r>
          </a:p>
          <a:p>
            <a:pPr marL="259080" lvl="1" indent="-129540" algn="l">
              <a:lnSpc>
                <a:spcPts val="1679"/>
              </a:lnSpc>
              <a:buAutoNum type="arabicPeriod"/>
            </a:pPr>
            <a:r>
              <a:rPr lang="en-US" sz="1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“falling rain” design is unique and visually memorable and connects well to the rainfall theme.</a:t>
            </a:r>
          </a:p>
          <a:p>
            <a:pPr marL="259080" lvl="1" indent="-129540" algn="l">
              <a:lnSpc>
                <a:spcPts val="1679"/>
              </a:lnSpc>
              <a:buAutoNum type="arabicPeriod"/>
            </a:pPr>
            <a:r>
              <a:rPr lang="en-US" sz="1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Large and dark markers help highlight extreme rainfall events and make outliers easy to notice.</a:t>
            </a:r>
          </a:p>
          <a:p>
            <a:pPr algn="l">
              <a:lnSpc>
                <a:spcPts val="1679"/>
              </a:lnSpc>
            </a:pPr>
            <a:endParaRPr lang="en-US" sz="12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1679"/>
              </a:lnSpc>
            </a:pPr>
            <a:r>
              <a:rPr lang="en-US" sz="1200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Weaknesses</a:t>
            </a:r>
          </a:p>
          <a:p>
            <a:pPr marL="259080" lvl="1" indent="-129540" algn="l">
              <a:lnSpc>
                <a:spcPts val="1679"/>
              </a:lnSpc>
              <a:buAutoNum type="arabicPeriod"/>
            </a:pPr>
            <a:r>
              <a:rPr lang="en-US" sz="1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Many points overlap, especially for low rainfall days, making the distribution difficult to read.</a:t>
            </a:r>
          </a:p>
          <a:p>
            <a:pPr marL="259080" lvl="1" indent="-129540" algn="l">
              <a:lnSpc>
                <a:spcPts val="1679"/>
              </a:lnSpc>
              <a:buAutoNum type="arabicPeriod"/>
            </a:pPr>
            <a:r>
              <a:rPr lang="en-US" sz="1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Rainfall is encoded multiple times using vertical position, marker size and colour intensity, which adds unnecessary visual complexity.</a:t>
            </a:r>
          </a:p>
          <a:p>
            <a:pPr marL="259080" lvl="1" indent="-129540" algn="l">
              <a:lnSpc>
                <a:spcPts val="1679"/>
              </a:lnSpc>
              <a:buAutoNum type="arabicPeriod"/>
            </a:pPr>
            <a:r>
              <a:rPr lang="en-US" sz="1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reversed y-axis supports the rain theme but it may slow interpretation because higher r</a:t>
            </a:r>
            <a:r>
              <a:rPr lang="en-US" sz="1200" u="none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ain</a:t>
            </a:r>
            <a:r>
              <a:rPr lang="en-US" sz="1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fall</a:t>
            </a:r>
            <a:r>
              <a:rPr lang="en-US" sz="1200" u="none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1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app</a:t>
            </a:r>
            <a:r>
              <a:rPr lang="en-US" sz="1200" u="none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</a:t>
            </a:r>
            <a:r>
              <a:rPr lang="en-US" sz="1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ar</a:t>
            </a:r>
            <a:r>
              <a:rPr lang="en-US" sz="1200" u="none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</a:t>
            </a:r>
            <a:r>
              <a:rPr lang="en-US" sz="1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lower </a:t>
            </a:r>
            <a:r>
              <a:rPr lang="en-US" sz="1200" u="none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on</a:t>
            </a:r>
            <a:r>
              <a:rPr lang="en-US" sz="1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the chart.</a:t>
            </a:r>
          </a:p>
          <a:p>
            <a:pPr marL="259080" lvl="1" indent="-129540" algn="l">
              <a:lnSpc>
                <a:spcPts val="1679"/>
              </a:lnSpc>
              <a:buAutoNum type="arabicPeriod"/>
            </a:pPr>
            <a:r>
              <a:rPr lang="en-US" sz="1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Non-intuitive design for urban planners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2872077" y="1349516"/>
            <a:ext cx="3704141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ORIGINAL VISUALISATION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7705501" y="1367595"/>
            <a:ext cx="10088667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REDESIGNED VISUALISATION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2872077" y="6947607"/>
            <a:ext cx="4250440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DATA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2872077" y="7447351"/>
            <a:ext cx="4337424" cy="2712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Meteorological Service Singapore / data.gov.sg:</a:t>
            </a:r>
            <a:r>
              <a:rPr lang="en-US" sz="1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Daily rainfall observations from Changi station.</a:t>
            </a:r>
          </a:p>
          <a:p>
            <a:pPr algn="l">
              <a:lnSpc>
                <a:spcPts val="1679"/>
              </a:lnSpc>
            </a:pPr>
            <a:endParaRPr lang="en-US" sz="12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1679"/>
              </a:lnSpc>
            </a:pPr>
            <a:r>
              <a:rPr lang="en-US" sz="1200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Changi rainfall dataset:</a:t>
            </a:r>
            <a:r>
              <a:rPr lang="en-US" sz="1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Daily rainfall totals and derived monthly rainfall summaries.</a:t>
            </a:r>
          </a:p>
          <a:p>
            <a:pPr algn="l">
              <a:lnSpc>
                <a:spcPts val="1679"/>
              </a:lnSpc>
            </a:pPr>
            <a:endParaRPr lang="en-US" sz="12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1679"/>
              </a:lnSpc>
            </a:pPr>
            <a:r>
              <a:rPr lang="en-US" sz="1200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Period used: </a:t>
            </a:r>
            <a:r>
              <a:rPr lang="en-US" sz="1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1983 - 2025 complete years. 2026 is excluded because the year is incomplete.</a:t>
            </a:r>
          </a:p>
          <a:p>
            <a:pPr algn="l">
              <a:lnSpc>
                <a:spcPts val="1679"/>
              </a:lnSpc>
            </a:pPr>
            <a:endParaRPr lang="en-US" sz="12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1679"/>
              </a:lnSpc>
            </a:pPr>
            <a:r>
              <a:rPr lang="en-US" sz="1200" b="1" u="sng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Original article:</a:t>
            </a:r>
            <a:r>
              <a:rPr lang="en-US" sz="1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Visualising Singapore’s Changing Weather Patterns (1983–2019), Chart 5</a:t>
            </a:r>
          </a:p>
          <a:p>
            <a:pPr algn="l">
              <a:lnSpc>
                <a:spcPts val="1679"/>
              </a:lnSpc>
            </a:pPr>
            <a:endParaRPr lang="en-US" sz="12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l">
              <a:lnSpc>
                <a:spcPts val="1679"/>
              </a:lnSpc>
            </a:pPr>
            <a:r>
              <a:rPr lang="en-US" sz="1200" i="1">
                <a:solidFill>
                  <a:srgbClr val="000000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Scan QR for full citations and references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501808" y="-25940"/>
            <a:ext cx="3685893" cy="372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TEAM CORAL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7548190" y="7654520"/>
            <a:ext cx="7064133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STRENGTHS &amp; WEAKNESSES OF ORIGINAL PLOT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7521002" y="5861551"/>
            <a:ext cx="10436012" cy="1455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59080" lvl="1" indent="-129540" algn="l">
              <a:lnSpc>
                <a:spcPts val="1679"/>
              </a:lnSpc>
              <a:buAutoNum type="arabicPeriod"/>
            </a:pPr>
            <a:r>
              <a:rPr lang="en-US" sz="1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Shifting the focus to monthly rainfall trends across the year on a heatmap. Reduction of plotted points, focusing on only relevant rainfall distributions for urban planning.</a:t>
            </a:r>
          </a:p>
          <a:p>
            <a:pPr marL="259080" lvl="1" indent="-129540" algn="l">
              <a:lnSpc>
                <a:spcPts val="1679"/>
              </a:lnSpc>
              <a:buAutoNum type="arabicPeriod"/>
            </a:pPr>
            <a:r>
              <a:rPr lang="en-US" sz="1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Encoding of only important features identified from rainfall data (heavy and extreme rainfall days) relevant to urban planning, reduces visual complexity.</a:t>
            </a:r>
          </a:p>
          <a:p>
            <a:pPr marL="259080" lvl="1" indent="-129540" algn="l">
              <a:lnSpc>
                <a:spcPts val="1679"/>
              </a:lnSpc>
              <a:buAutoNum type="arabicPeriod"/>
            </a:pPr>
            <a:r>
              <a:rPr lang="en-US" sz="1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Use of standard x and y axis orientations for common interpretation of the plot</a:t>
            </a:r>
          </a:p>
          <a:p>
            <a:pPr marL="259080" lvl="1" indent="-129540" algn="l">
              <a:lnSpc>
                <a:spcPts val="1679"/>
              </a:lnSpc>
              <a:buAutoNum type="arabicPeriod"/>
            </a:pPr>
            <a:r>
              <a:rPr lang="en-US" sz="1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trends for which months have heavy or extreme rainfall are immediately visible for urban planners or environmental agencies</a:t>
            </a:r>
          </a:p>
          <a:p>
            <a:pPr marL="259080" lvl="1" indent="-129540" algn="l">
              <a:lnSpc>
                <a:spcPts val="1679"/>
              </a:lnSpc>
              <a:buAutoNum type="arabicPeriod"/>
            </a:pPr>
            <a:r>
              <a:rPr lang="en-US" sz="1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Expansion of plot data from 1983 - 2019 to 1983 - 2025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12234239" y="398346"/>
            <a:ext cx="2110515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2403348 - Kieran Sim</a:t>
            </a:r>
          </a:p>
          <a:p>
            <a:pPr algn="l">
              <a:lnSpc>
                <a:spcPts val="1960"/>
              </a:lnSpc>
            </a:pPr>
            <a:r>
              <a:rPr lang="en-US" sz="1400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2401305 - James Yu</a:t>
            </a:r>
          </a:p>
          <a:p>
            <a:pPr algn="l">
              <a:lnSpc>
                <a:spcPts val="1960"/>
              </a:lnSpc>
            </a:pPr>
            <a:r>
              <a:rPr lang="en-US" sz="1400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2401401 - Valerie Seow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4518126" y="398346"/>
            <a:ext cx="2110515" cy="488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2403355 - Yip Wei Yang</a:t>
            </a:r>
          </a:p>
          <a:p>
            <a:pPr algn="l">
              <a:lnSpc>
                <a:spcPts val="1960"/>
              </a:lnSpc>
            </a:pPr>
            <a:r>
              <a:rPr lang="en-US" sz="1400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2403359 - Ethan 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483</Words>
  <Application>Microsoft Office PowerPoint</Application>
  <PresentationFormat>Custom</PresentationFormat>
  <Paragraphs>45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Aptos Bold</vt:lpstr>
      <vt:lpstr>Canva Sans</vt:lpstr>
      <vt:lpstr>Canva Sans Bold</vt:lpstr>
      <vt:lpstr>Calibri</vt:lpstr>
      <vt:lpstr>Canva Sans Italics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Coral Proj Poster</dc:title>
  <cp:lastModifiedBy>valerie seow</cp:lastModifiedBy>
  <cp:revision>2</cp:revision>
  <dcterms:created xsi:type="dcterms:W3CDTF">2006-08-16T00:00:00Z</dcterms:created>
  <dcterms:modified xsi:type="dcterms:W3CDTF">2026-07-26T13:49:28Z</dcterms:modified>
  <dc:identifier>DAHO6GfO6d0</dc:identifier>
</cp:coreProperties>
</file>